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Bem-vindos à aula de Normas Regulamentadoras. As NRs são normas obrigatórias expedidas pelo Ministério do Trabalho e Emprego que estabelecem requisitos mínimos de segurança e saúde para todos os empregadores e empregados regidos pela CLT. Vamos estudar as principais normas que você precisa conhecer.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Normas Regulamentadoras são obrigatórias para todos que possuem empregados com registro em carteira. Não são recomendações — são lei. O descumprimento sujeita o empregador a multas, embargo da obra ou interdição do estabelecimento. Atualmente existem 38 NRs em vigor, além de normas setoriais específicas para determinados segmentos da economia.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NR-01 é o alicerce de toda a segurança do trabalho no Brasil. Ela introduziu o Gerenciamento de Riscos Operacionais, o GRO, e o Programa de Gerenciamento de Riscos, o PGR. O PGR é composto pelo Inventário de Riscos, que mapeia todos os perigos, e pelo Plano de Ação, que define como controlá-los. Um direito fundamental introduzido pela NR-01 é o Direito de Recusa: o trabalhador pode recusar tarefa que represente risco grave e iminente sem sofrer nenhuma penalidade.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NR-05 cria a Comissão Interna de Prevenção de Acidentes, a CIPA. Sua composição é paritária: metade dos membros é indicada pelo empregador e metade é eleita pelos próprios empregados. O mandato é de um ano, com direito a uma reeleição. A CIPA tem como principal missão identificar riscos no ambiente de trabalho, elaborar o Mapa de Riscos e propor soluções ao empregador. Os membros eleitos gozam de estabilidade de emprego durante o mandato e por mais um ano após o seu término.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NR-06 regulamenta os Equipamentos de Proteção Individual. O ponto mais importante: o EPI deve ser fornecido gratuitamente pelo empregador. Todo EPI deve ter o Certificado de Aprovação, o CA, emitido pelo Ministério do Trabalho, que garante que o equipamento foi testado e aprovado para o risco indicado. O trabalhador que se recusa a usar EPI sem justificativa comete ato faltoso, podendo ser advertido, suspenso ou demitido por justa causa. Lembre-se: o EPI é sempre a última linha de defesa — antes dele, devem ser adotadas medidas coletivas de proteção.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NR-15 trata das atividades insalubres, aquelas que expõem o trabalhador a agentes que causam dano progressivo à saúde ao longo do tempo. Os agentes insalubres podem ser físicos, como ruído e calor, químicos, como poeiras e vapores, ou biológicos, como vírus e bactérias. Existem três graus de insalubridade: mínimo com adicional de dez por cento, médio com vinte por cento, e máximo com quarenta por cento, todos calculados sobre o salário mínimo nacional. O enquadramento exige laudo técnico de médico ou engenheiro de segurança.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NR-16 trata das atividades perigosas, que expõem o trabalhador a risco imediato de morte ou lesão grave. A grande diferença em relação à insalubridade é esta: a insalubridade causa dano progressivo ao longo do tempo, enquanto a periculosidade representa risco imediato. O adicional de periculosidade é fixo em trinta por cento sobre o salário base contratual. Diferente da insalubridade, que incide sobre o salário mínimo. O trabalhador não pode acumular os dois adicionais — deve optar pelo mais vantajoso.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NR-17 de Ergonomia tem como objetivo adaptar as condições de trabalho às características físicas e psicológicas dos trabalhadores. Ela previne as chamadas LER e DORT, lesões causadas por movimentos repetitivos e posturas inadequadas. A norma regulamenta desde a altura das bancadas e cadeiras até o ritmo de trabalho, pausas obrigatórias, iluminação e temperatura do ambiente. Para atividades de risco ergonômico, é obrigatória a elaboração da Análise Ergonômica do Trabalho, a AET.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NR-23 trata da proteção contra incêndios no ambiente de trabalho. O empregador deve garantir saídas de emergência sempre livres e sinalizadas. Os extintores devem ser adequados ao tipo de risco de cada área, conforme a NBR doze mil seiscentos e noventa e três. A brigada de incêndio é formada por funcionários da própria empresa, treinados para a resposta imediata a emergências. O Plano de Prevenção e Proteção Contra Incêndios, o PPCI, deve ser aprovado pelo Corpo de Bombeiros Militar de cada estado.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NR-35 regula o trabalho em altura, definido como qualquer atividade realizada acima de dois metros do nível de referência onde exista risco de queda. Todo trabalhador que atue em altura deve receber treinamento específico, com reciclagem obrigatória a cada dois anos. Antes de cada trabalho, é obrigatória a Análise Preliminar de Risco, a APR, e a emissão da Permissão de Trabalho em Altura, o PTS. Os EPIs obrigatórios incluem cinto de segurança tipo paraquedista, talabarte e capacete com jugular.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hierarquia de controle de riscos é o princípio fundamental da segurança do trabalho. Deve-se sempre tentar eliminar o perigo na origem antes de qualquer outra medida. Se não for possível eliminar, tenta-se substituir por algo menos perigoso. Em seguida, aplicam-se controles de engenharia, como equipamentos de proteção coletiva. Depois, controles administrativos como treinamentos e procedimentos. O EPI é sempre o último recurso, quando as demais medidas forem insuficientes. Esta lógica está na base da NR-01 e deve guiar todas as decisões de segurança.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Vamos revisar o resumo das normas estudadas. A NR-01 é a Norma Mãe que rege o gerenciamento de riscos e garante o direito de recusa. A NR-05 cria a CIPA com composição paritária e mandato de um ano. A NR-06 torna o EPI gratuito e obrigatório como última linha de defesa. A NR-15 trata da insalubridade com adicionais sobre o salário mínimo. A NR-16 trata da periculosidade com adicional fixo de trinta por cento. A NR-17 adapta as condições de trabalho ao trabalhador prevenindo LER e DORT. A NR-23 protege contra incêndios com extintores, brigada e PPCI. E a NR-35 regula o trabalho em altura acima de dois metros.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645920"/>
            <a:ext cx="11091672" cy="1645920"/>
          </a:xfrm>
          <a:prstGeom prst="rect">
            <a:avLst/>
          </a:prstGeom>
          <a:noFill/>
        </p:spPr>
        <p:txBody>
          <a:bodyPr wrap="square">
            <a:spAutoFit/>
          </a:bodyPr>
          <a:lstStyle/>
          <a:p>
            <a:pPr algn="ctr"/>
            <a:r>
              <a:rPr sz="4000" b="1">
                <a:solidFill>
                  <a:srgbClr val="1A56DB"/>
                </a:solidFill>
              </a:rPr>
              <a:t>Normas Regulamentadoras</a:t>
            </a:r>
          </a:p>
          <a:p>
            <a:pPr algn="ctr"/>
            <a:r>
              <a:rPr sz="4000" b="1">
                <a:solidFill>
                  <a:srgbClr val="1A56DB"/>
                </a:solidFill>
              </a:rPr>
              <a:t>Visão Geral</a:t>
            </a:r>
          </a:p>
        </p:txBody>
      </p:sp>
      <p:sp>
        <p:nvSpPr>
          <p:cNvPr id="3" name="TextBox 2"/>
          <p:cNvSpPr txBox="1"/>
          <p:nvPr/>
        </p:nvSpPr>
        <p:spPr>
          <a:xfrm>
            <a:off x="548640" y="3474720"/>
            <a:ext cx="11091672" cy="548640"/>
          </a:xfrm>
          <a:prstGeom prst="rect">
            <a:avLst/>
          </a:prstGeom>
          <a:noFill/>
        </p:spPr>
        <p:txBody>
          <a:bodyPr wrap="square">
            <a:spAutoFit/>
          </a:bodyPr>
          <a:lstStyle/>
          <a:p>
            <a:pPr algn="ctr"/>
            <a:r>
              <a:rPr sz="2200" b="0">
                <a:solidFill>
                  <a:srgbClr val="6B7280"/>
                </a:solidFill>
              </a:rPr>
              <a:t>NR-01 · NR-05 · NR-06 · NR-15 · NR-16 · NR-17 · NR-23 · NR-35</a:t>
            </a:r>
          </a:p>
        </p:txBody>
      </p:sp>
      <p:sp>
        <p:nvSpPr>
          <p:cNvPr id="4" name="TextBox 3"/>
          <p:cNvSpPr txBox="1"/>
          <p:nvPr/>
        </p:nvSpPr>
        <p:spPr>
          <a:xfrm>
            <a:off x="548640" y="4023360"/>
            <a:ext cx="11091672" cy="548640"/>
          </a:xfrm>
          <a:prstGeom prst="rect">
            <a:avLst/>
          </a:prstGeom>
          <a:noFill/>
        </p:spPr>
        <p:txBody>
          <a:bodyPr wrap="square">
            <a:spAutoFit/>
          </a:bodyPr>
          <a:lstStyle/>
          <a:p>
            <a:pPr algn="ctr"/>
            <a:r>
              <a:rPr sz="2200" b="0">
                <a:solidFill>
                  <a:srgbClr val="6B7280"/>
                </a:solidFill>
              </a:rPr>
              <a:t>SENAI · Prof. Marcos José dos Santos · Unidade Cariacica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1672" cy="822960"/>
          </a:xfrm>
          <a:prstGeom prst="rect">
            <a:avLst/>
          </a:prstGeom>
          <a:noFill/>
        </p:spPr>
        <p:txBody>
          <a:bodyPr wrap="square">
            <a:spAutoFit/>
          </a:bodyPr>
          <a:lstStyle/>
          <a:p>
            <a:pPr algn="l"/>
            <a:r>
              <a:rPr sz="2600" b="1">
                <a:solidFill>
                  <a:srgbClr val="1A56DB"/>
                </a:solidFill>
              </a:rPr>
              <a:t>O que são as NRs e quem deve cumpri-las</a:t>
            </a:r>
          </a:p>
        </p:txBody>
      </p:sp>
      <p:sp>
        <p:nvSpPr>
          <p:cNvPr id="3" name="TextBox 2"/>
          <p:cNvSpPr txBox="1"/>
          <p:nvPr/>
        </p:nvSpPr>
        <p:spPr>
          <a:xfrm>
            <a:off x="548640" y="1143000"/>
            <a:ext cx="11091672" cy="548640"/>
          </a:xfrm>
          <a:prstGeom prst="rect">
            <a:avLst/>
          </a:prstGeom>
          <a:noFill/>
        </p:spPr>
        <p:txBody>
          <a:bodyPr wrap="square">
            <a:spAutoFit/>
          </a:bodyPr>
          <a:lstStyle/>
          <a:p>
            <a:pPr algn="l"/>
            <a:r>
              <a:rPr sz="1800" b="0">
                <a:solidFill>
                  <a:srgbClr val="111827"/>
                </a:solidFill>
              </a:rPr>
              <a:t>• Normas obrigatórias expedidas pelo Ministério do Trabalho e Emprego (MTE).</a:t>
            </a:r>
          </a:p>
        </p:txBody>
      </p:sp>
      <p:sp>
        <p:nvSpPr>
          <p:cNvPr id="4" name="TextBox 3"/>
          <p:cNvSpPr txBox="1"/>
          <p:nvPr/>
        </p:nvSpPr>
        <p:spPr>
          <a:xfrm>
            <a:off x="548640" y="1673352"/>
            <a:ext cx="11091672" cy="548640"/>
          </a:xfrm>
          <a:prstGeom prst="rect">
            <a:avLst/>
          </a:prstGeom>
          <a:noFill/>
        </p:spPr>
        <p:txBody>
          <a:bodyPr wrap="square">
            <a:spAutoFit/>
          </a:bodyPr>
          <a:lstStyle/>
          <a:p>
            <a:pPr algn="l"/>
            <a:r>
              <a:rPr sz="1800" b="0">
                <a:solidFill>
                  <a:srgbClr val="111827"/>
                </a:solidFill>
              </a:rPr>
              <a:t>• Baseadas no Art. 200 da CLT — aplicam-se a toda empresa com empregados CLT.</a:t>
            </a:r>
          </a:p>
        </p:txBody>
      </p:sp>
      <p:sp>
        <p:nvSpPr>
          <p:cNvPr id="5" name="TextBox 4"/>
          <p:cNvSpPr txBox="1"/>
          <p:nvPr/>
        </p:nvSpPr>
        <p:spPr>
          <a:xfrm>
            <a:off x="548640" y="2203704"/>
            <a:ext cx="11091672" cy="548640"/>
          </a:xfrm>
          <a:prstGeom prst="rect">
            <a:avLst/>
          </a:prstGeom>
          <a:noFill/>
        </p:spPr>
        <p:txBody>
          <a:bodyPr wrap="square">
            <a:spAutoFit/>
          </a:bodyPr>
          <a:lstStyle/>
          <a:p>
            <a:pPr algn="l"/>
            <a:r>
              <a:rPr sz="1800" b="0">
                <a:solidFill>
                  <a:srgbClr val="111827"/>
                </a:solidFill>
              </a:rPr>
              <a:t>• Fiscalizadas pelos Auditores Fiscais do Trabalho — multa, embargo ou interdição.</a:t>
            </a:r>
          </a:p>
        </p:txBody>
      </p:sp>
      <p:sp>
        <p:nvSpPr>
          <p:cNvPr id="6" name="TextBox 5"/>
          <p:cNvSpPr txBox="1"/>
          <p:nvPr/>
        </p:nvSpPr>
        <p:spPr>
          <a:xfrm>
            <a:off x="548640" y="2734056"/>
            <a:ext cx="11091672" cy="548640"/>
          </a:xfrm>
          <a:prstGeom prst="rect">
            <a:avLst/>
          </a:prstGeom>
          <a:noFill/>
        </p:spPr>
        <p:txBody>
          <a:bodyPr wrap="square">
            <a:spAutoFit/>
          </a:bodyPr>
          <a:lstStyle/>
          <a:p>
            <a:pPr algn="l"/>
            <a:r>
              <a:rPr sz="1800" b="0">
                <a:solidFill>
                  <a:srgbClr val="111827"/>
                </a:solidFill>
              </a:rPr>
              <a:t>• Existem 38 NRs em vigor, cada uma voltada a um risco ou setor específico.</a:t>
            </a:r>
          </a:p>
        </p:txBody>
      </p:sp>
      <p:sp>
        <p:nvSpPr>
          <p:cNvPr id="7" name="TextBox 6"/>
          <p:cNvSpPr txBox="1"/>
          <p:nvPr/>
        </p:nvSpPr>
        <p:spPr>
          <a:xfrm>
            <a:off x="548640" y="3264408"/>
            <a:ext cx="11091672" cy="548640"/>
          </a:xfrm>
          <a:prstGeom prst="rect">
            <a:avLst/>
          </a:prstGeom>
          <a:noFill/>
        </p:spPr>
        <p:txBody>
          <a:bodyPr wrap="square">
            <a:spAutoFit/>
          </a:bodyPr>
          <a:lstStyle/>
          <a:p>
            <a:pPr algn="l"/>
            <a:r>
              <a:rPr sz="1800" b="0">
                <a:solidFill>
                  <a:srgbClr val="111827"/>
                </a:solidFill>
              </a:rPr>
              <a:t>• NRs Setoriais: NR-18 (construção), NR-20 (combustíveis), NR-31 (agricultura).</a:t>
            </a:r>
          </a:p>
        </p:txBody>
      </p:sp>
      <p:sp>
        <p:nvSpPr>
          <p:cNvPr id="8" name="TextBox 7"/>
          <p:cNvSpPr txBox="1"/>
          <p:nvPr/>
        </p:nvSpPr>
        <p:spPr>
          <a:xfrm>
            <a:off x="548640" y="3794760"/>
            <a:ext cx="11091672" cy="548640"/>
          </a:xfrm>
          <a:prstGeom prst="rect">
            <a:avLst/>
          </a:prstGeom>
          <a:noFill/>
        </p:spPr>
        <p:txBody>
          <a:bodyPr wrap="square">
            <a:spAutoFit/>
          </a:bodyPr>
          <a:lstStyle/>
          <a:p>
            <a:pPr algn="l"/>
            <a:r>
              <a:rPr sz="1800" b="0">
                <a:solidFill>
                  <a:srgbClr val="111827"/>
                </a:solidFill>
              </a:rPr>
              <a:t>• A base de todas é a NR-01, chamada de Norma Mãe.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1672" cy="822960"/>
          </a:xfrm>
          <a:prstGeom prst="rect">
            <a:avLst/>
          </a:prstGeom>
          <a:noFill/>
        </p:spPr>
        <p:txBody>
          <a:bodyPr wrap="square">
            <a:spAutoFit/>
          </a:bodyPr>
          <a:lstStyle/>
          <a:p>
            <a:pPr algn="l"/>
            <a:r>
              <a:rPr sz="2600" b="1">
                <a:solidFill>
                  <a:srgbClr val="1A56DB"/>
                </a:solidFill>
              </a:rPr>
              <a:t>NR-01 — A Norma Mãe: Gerenciamento de Riscos</a:t>
            </a:r>
          </a:p>
        </p:txBody>
      </p:sp>
      <p:sp>
        <p:nvSpPr>
          <p:cNvPr id="3" name="TextBox 2"/>
          <p:cNvSpPr txBox="1"/>
          <p:nvPr/>
        </p:nvSpPr>
        <p:spPr>
          <a:xfrm>
            <a:off x="548640" y="1143000"/>
            <a:ext cx="11091672" cy="548640"/>
          </a:xfrm>
          <a:prstGeom prst="rect">
            <a:avLst/>
          </a:prstGeom>
          <a:noFill/>
        </p:spPr>
        <p:txBody>
          <a:bodyPr wrap="square">
            <a:spAutoFit/>
          </a:bodyPr>
          <a:lstStyle/>
          <a:p>
            <a:pPr algn="l"/>
            <a:r>
              <a:rPr sz="1800" b="0">
                <a:solidFill>
                  <a:srgbClr val="111827"/>
                </a:solidFill>
              </a:rPr>
              <a:t>• Estabelece as diretrizes gerais que regem todas as demais NRs.</a:t>
            </a:r>
          </a:p>
        </p:txBody>
      </p:sp>
      <p:sp>
        <p:nvSpPr>
          <p:cNvPr id="4" name="TextBox 3"/>
          <p:cNvSpPr txBox="1"/>
          <p:nvPr/>
        </p:nvSpPr>
        <p:spPr>
          <a:xfrm>
            <a:off x="548640" y="1673352"/>
            <a:ext cx="11091672" cy="548640"/>
          </a:xfrm>
          <a:prstGeom prst="rect">
            <a:avLst/>
          </a:prstGeom>
          <a:noFill/>
        </p:spPr>
        <p:txBody>
          <a:bodyPr wrap="square">
            <a:spAutoFit/>
          </a:bodyPr>
          <a:lstStyle/>
          <a:p>
            <a:pPr algn="l"/>
            <a:r>
              <a:rPr sz="1800" b="0">
                <a:solidFill>
                  <a:srgbClr val="111827"/>
                </a:solidFill>
              </a:rPr>
              <a:t>• GRO — Gerenciamento de Riscos Operacionais: identificar, avaliar e controlar riscos.</a:t>
            </a:r>
          </a:p>
        </p:txBody>
      </p:sp>
      <p:sp>
        <p:nvSpPr>
          <p:cNvPr id="5" name="TextBox 4"/>
          <p:cNvSpPr txBox="1"/>
          <p:nvPr/>
        </p:nvSpPr>
        <p:spPr>
          <a:xfrm>
            <a:off x="548640" y="2203704"/>
            <a:ext cx="11091672" cy="548640"/>
          </a:xfrm>
          <a:prstGeom prst="rect">
            <a:avLst/>
          </a:prstGeom>
          <a:noFill/>
        </p:spPr>
        <p:txBody>
          <a:bodyPr wrap="square">
            <a:spAutoFit/>
          </a:bodyPr>
          <a:lstStyle/>
          <a:p>
            <a:pPr algn="l"/>
            <a:r>
              <a:rPr sz="1800" b="0">
                <a:solidFill>
                  <a:srgbClr val="111827"/>
                </a:solidFill>
              </a:rPr>
              <a:t>• PGR — Programa de Gerenciamento de Riscos: 2 documentos obrigatórios:</a:t>
            </a:r>
          </a:p>
        </p:txBody>
      </p:sp>
      <p:sp>
        <p:nvSpPr>
          <p:cNvPr id="6" name="TextBox 5"/>
          <p:cNvSpPr txBox="1"/>
          <p:nvPr/>
        </p:nvSpPr>
        <p:spPr>
          <a:xfrm>
            <a:off x="548640" y="2734056"/>
            <a:ext cx="11091672" cy="548640"/>
          </a:xfrm>
          <a:prstGeom prst="rect">
            <a:avLst/>
          </a:prstGeom>
          <a:noFill/>
        </p:spPr>
        <p:txBody>
          <a:bodyPr wrap="square">
            <a:spAutoFit/>
          </a:bodyPr>
          <a:lstStyle/>
          <a:p>
            <a:pPr algn="l"/>
            <a:r>
              <a:rPr sz="1800" b="0">
                <a:solidFill>
                  <a:srgbClr val="111827"/>
                </a:solidFill>
              </a:rPr>
              <a:t>     Inventário de Riscos: mapeia todos os perigos e riscos da empresa.</a:t>
            </a:r>
          </a:p>
        </p:txBody>
      </p:sp>
      <p:sp>
        <p:nvSpPr>
          <p:cNvPr id="7" name="TextBox 6"/>
          <p:cNvSpPr txBox="1"/>
          <p:nvPr/>
        </p:nvSpPr>
        <p:spPr>
          <a:xfrm>
            <a:off x="548640" y="3264408"/>
            <a:ext cx="11091672" cy="548640"/>
          </a:xfrm>
          <a:prstGeom prst="rect">
            <a:avLst/>
          </a:prstGeom>
          <a:noFill/>
        </p:spPr>
        <p:txBody>
          <a:bodyPr wrap="square">
            <a:spAutoFit/>
          </a:bodyPr>
          <a:lstStyle/>
          <a:p>
            <a:pPr algn="l"/>
            <a:r>
              <a:rPr sz="1800" b="0">
                <a:solidFill>
                  <a:srgbClr val="111827"/>
                </a:solidFill>
              </a:rPr>
              <a:t>     Plano de Ação: define medidas de controle e prazos para cada risco.</a:t>
            </a:r>
          </a:p>
        </p:txBody>
      </p:sp>
      <p:sp>
        <p:nvSpPr>
          <p:cNvPr id="8" name="TextBox 7"/>
          <p:cNvSpPr txBox="1"/>
          <p:nvPr/>
        </p:nvSpPr>
        <p:spPr>
          <a:xfrm>
            <a:off x="548640" y="3794760"/>
            <a:ext cx="11091672" cy="548640"/>
          </a:xfrm>
          <a:prstGeom prst="rect">
            <a:avLst/>
          </a:prstGeom>
          <a:noFill/>
        </p:spPr>
        <p:txBody>
          <a:bodyPr wrap="square">
            <a:spAutoFit/>
          </a:bodyPr>
          <a:lstStyle/>
          <a:p>
            <a:pPr algn="l"/>
            <a:r>
              <a:rPr sz="1800" b="0">
                <a:solidFill>
                  <a:srgbClr val="111827"/>
                </a:solidFill>
              </a:rPr>
              <a:t>• DIREITO DE RECUSA: trabalhador pode recusar atividade de risco grave e iminente.</a:t>
            </a:r>
          </a:p>
        </p:txBody>
      </p:sp>
      <p:sp>
        <p:nvSpPr>
          <p:cNvPr id="9" name="TextBox 8"/>
          <p:cNvSpPr txBox="1"/>
          <p:nvPr/>
        </p:nvSpPr>
        <p:spPr>
          <a:xfrm>
            <a:off x="548640" y="4325112"/>
            <a:ext cx="11091672" cy="548640"/>
          </a:xfrm>
          <a:prstGeom prst="rect">
            <a:avLst/>
          </a:prstGeom>
          <a:noFill/>
        </p:spPr>
        <p:txBody>
          <a:bodyPr wrap="square">
            <a:spAutoFit/>
          </a:bodyPr>
          <a:lstStyle/>
          <a:p>
            <a:pPr algn="l"/>
            <a:r>
              <a:rPr sz="1800" b="0">
                <a:solidFill>
                  <a:srgbClr val="111827"/>
                </a:solidFill>
              </a:rPr>
              <a:t>• Hierarquia de controle: Eliminação &gt; Substituição &gt; EPC &gt; Administrativo &gt; EPI.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1672" cy="822960"/>
          </a:xfrm>
          <a:prstGeom prst="rect">
            <a:avLst/>
          </a:prstGeom>
          <a:noFill/>
        </p:spPr>
        <p:txBody>
          <a:bodyPr wrap="square">
            <a:spAutoFit/>
          </a:bodyPr>
          <a:lstStyle/>
          <a:p>
            <a:pPr algn="l"/>
            <a:r>
              <a:rPr sz="2600" b="1">
                <a:solidFill>
                  <a:srgbClr val="1A56DB"/>
                </a:solidFill>
              </a:rPr>
              <a:t>NR-05 — CIPA: Comissão Interna de Prevenção de Acidentes</a:t>
            </a:r>
          </a:p>
        </p:txBody>
      </p:sp>
      <p:sp>
        <p:nvSpPr>
          <p:cNvPr id="3" name="TextBox 2"/>
          <p:cNvSpPr txBox="1"/>
          <p:nvPr/>
        </p:nvSpPr>
        <p:spPr>
          <a:xfrm>
            <a:off x="548640" y="1143000"/>
            <a:ext cx="11091672" cy="548640"/>
          </a:xfrm>
          <a:prstGeom prst="rect">
            <a:avLst/>
          </a:prstGeom>
          <a:noFill/>
        </p:spPr>
        <p:txBody>
          <a:bodyPr wrap="square">
            <a:spAutoFit/>
          </a:bodyPr>
          <a:lstStyle/>
          <a:p>
            <a:pPr algn="l"/>
            <a:r>
              <a:rPr sz="1800" b="0">
                <a:solidFill>
                  <a:srgbClr val="111827"/>
                </a:solidFill>
              </a:rPr>
              <a:t>• Obrigatória para empresas com mais de 20 empregados (varia por setor).</a:t>
            </a:r>
          </a:p>
        </p:txBody>
      </p:sp>
      <p:sp>
        <p:nvSpPr>
          <p:cNvPr id="4" name="TextBox 3"/>
          <p:cNvSpPr txBox="1"/>
          <p:nvPr/>
        </p:nvSpPr>
        <p:spPr>
          <a:xfrm>
            <a:off x="548640" y="1673352"/>
            <a:ext cx="11091672" cy="548640"/>
          </a:xfrm>
          <a:prstGeom prst="rect">
            <a:avLst/>
          </a:prstGeom>
          <a:noFill/>
        </p:spPr>
        <p:txBody>
          <a:bodyPr wrap="square">
            <a:spAutoFit/>
          </a:bodyPr>
          <a:lstStyle/>
          <a:p>
            <a:pPr algn="l"/>
            <a:r>
              <a:rPr sz="1800" b="0">
                <a:solidFill>
                  <a:srgbClr val="111827"/>
                </a:solidFill>
              </a:rPr>
              <a:t>• Composição PARITÁRIA: 50% indicados pelo empregador + 50% eleitos pelos empregados.</a:t>
            </a:r>
          </a:p>
        </p:txBody>
      </p:sp>
      <p:sp>
        <p:nvSpPr>
          <p:cNvPr id="5" name="TextBox 4"/>
          <p:cNvSpPr txBox="1"/>
          <p:nvPr/>
        </p:nvSpPr>
        <p:spPr>
          <a:xfrm>
            <a:off x="548640" y="2203704"/>
            <a:ext cx="11091672" cy="548640"/>
          </a:xfrm>
          <a:prstGeom prst="rect">
            <a:avLst/>
          </a:prstGeom>
          <a:noFill/>
        </p:spPr>
        <p:txBody>
          <a:bodyPr wrap="square">
            <a:spAutoFit/>
          </a:bodyPr>
          <a:lstStyle/>
          <a:p>
            <a:pPr algn="l"/>
            <a:r>
              <a:rPr sz="1800" b="0">
                <a:solidFill>
                  <a:srgbClr val="111827"/>
                </a:solidFill>
              </a:rPr>
              <a:t>• Mandato: 1 ano com direito a UMA reeleição.</a:t>
            </a:r>
          </a:p>
        </p:txBody>
      </p:sp>
      <p:sp>
        <p:nvSpPr>
          <p:cNvPr id="6" name="TextBox 5"/>
          <p:cNvSpPr txBox="1"/>
          <p:nvPr/>
        </p:nvSpPr>
        <p:spPr>
          <a:xfrm>
            <a:off x="548640" y="2734056"/>
            <a:ext cx="11091672" cy="548640"/>
          </a:xfrm>
          <a:prstGeom prst="rect">
            <a:avLst/>
          </a:prstGeom>
          <a:noFill/>
        </p:spPr>
        <p:txBody>
          <a:bodyPr wrap="square">
            <a:spAutoFit/>
          </a:bodyPr>
          <a:lstStyle/>
          <a:p>
            <a:pPr algn="l"/>
            <a:r>
              <a:rPr sz="1800" b="0">
                <a:solidFill>
                  <a:srgbClr val="111827"/>
                </a:solidFill>
              </a:rPr>
              <a:t>• Missão: identificar riscos, elaborar o Mapa de Riscos e propor melhorias.</a:t>
            </a:r>
          </a:p>
        </p:txBody>
      </p:sp>
      <p:sp>
        <p:nvSpPr>
          <p:cNvPr id="7" name="TextBox 6"/>
          <p:cNvSpPr txBox="1"/>
          <p:nvPr/>
        </p:nvSpPr>
        <p:spPr>
          <a:xfrm>
            <a:off x="548640" y="3264408"/>
            <a:ext cx="11091672" cy="548640"/>
          </a:xfrm>
          <a:prstGeom prst="rect">
            <a:avLst/>
          </a:prstGeom>
          <a:noFill/>
        </p:spPr>
        <p:txBody>
          <a:bodyPr wrap="square">
            <a:spAutoFit/>
          </a:bodyPr>
          <a:lstStyle/>
          <a:p>
            <a:pPr algn="l"/>
            <a:r>
              <a:rPr sz="1800" b="0">
                <a:solidFill>
                  <a:srgbClr val="111827"/>
                </a:solidFill>
              </a:rPr>
              <a:t>• Realizar SIPAT — Semana Interna de Prevenção de Acidentes do Trabalho.</a:t>
            </a:r>
          </a:p>
        </p:txBody>
      </p:sp>
      <p:sp>
        <p:nvSpPr>
          <p:cNvPr id="8" name="TextBox 7"/>
          <p:cNvSpPr txBox="1"/>
          <p:nvPr/>
        </p:nvSpPr>
        <p:spPr>
          <a:xfrm>
            <a:off x="548640" y="3794760"/>
            <a:ext cx="11091672" cy="548640"/>
          </a:xfrm>
          <a:prstGeom prst="rect">
            <a:avLst/>
          </a:prstGeom>
          <a:noFill/>
        </p:spPr>
        <p:txBody>
          <a:bodyPr wrap="square">
            <a:spAutoFit/>
          </a:bodyPr>
          <a:lstStyle/>
          <a:p>
            <a:pPr algn="l"/>
            <a:r>
              <a:rPr sz="1800" b="0">
                <a:solidFill>
                  <a:srgbClr val="111827"/>
                </a:solidFill>
              </a:rPr>
              <a:t>• Membros eleitos têm estabilidade de emprego durante o mandato + 1 ano após.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1672" cy="822960"/>
          </a:xfrm>
          <a:prstGeom prst="rect">
            <a:avLst/>
          </a:prstGeom>
          <a:noFill/>
        </p:spPr>
        <p:txBody>
          <a:bodyPr wrap="square">
            <a:spAutoFit/>
          </a:bodyPr>
          <a:lstStyle/>
          <a:p>
            <a:pPr algn="l"/>
            <a:r>
              <a:rPr sz="2600" b="1">
                <a:solidFill>
                  <a:srgbClr val="1A56DB"/>
                </a:solidFill>
              </a:rPr>
              <a:t>NR-06 — EPI: Equipamento de Proteção Individual</a:t>
            </a:r>
          </a:p>
        </p:txBody>
      </p:sp>
      <p:sp>
        <p:nvSpPr>
          <p:cNvPr id="3" name="TextBox 2"/>
          <p:cNvSpPr txBox="1"/>
          <p:nvPr/>
        </p:nvSpPr>
        <p:spPr>
          <a:xfrm>
            <a:off x="548640" y="1143000"/>
            <a:ext cx="11091672" cy="548640"/>
          </a:xfrm>
          <a:prstGeom prst="rect">
            <a:avLst/>
          </a:prstGeom>
          <a:noFill/>
        </p:spPr>
        <p:txBody>
          <a:bodyPr wrap="square">
            <a:spAutoFit/>
          </a:bodyPr>
          <a:lstStyle/>
          <a:p>
            <a:pPr algn="l"/>
            <a:r>
              <a:rPr sz="1800" b="0">
                <a:solidFill>
                  <a:srgbClr val="111827"/>
                </a:solidFill>
              </a:rPr>
              <a:t>• EPI é fornecido GRATUITAMENTE pelo empregador — proibido cobrar do trabalhador.</a:t>
            </a:r>
          </a:p>
        </p:txBody>
      </p:sp>
      <p:sp>
        <p:nvSpPr>
          <p:cNvPr id="4" name="TextBox 3"/>
          <p:cNvSpPr txBox="1"/>
          <p:nvPr/>
        </p:nvSpPr>
        <p:spPr>
          <a:xfrm>
            <a:off x="548640" y="1673352"/>
            <a:ext cx="11091672" cy="548640"/>
          </a:xfrm>
          <a:prstGeom prst="rect">
            <a:avLst/>
          </a:prstGeom>
          <a:noFill/>
        </p:spPr>
        <p:txBody>
          <a:bodyPr wrap="square">
            <a:spAutoFit/>
          </a:bodyPr>
          <a:lstStyle/>
          <a:p>
            <a:pPr algn="l"/>
            <a:r>
              <a:rPr sz="1800" b="0">
                <a:solidFill>
                  <a:srgbClr val="111827"/>
                </a:solidFill>
              </a:rPr>
              <a:t>• Todo EPI deve ter CA (Certificado de Aprovação) emitido pelo MTE.</a:t>
            </a:r>
          </a:p>
        </p:txBody>
      </p:sp>
      <p:sp>
        <p:nvSpPr>
          <p:cNvPr id="5" name="TextBox 4"/>
          <p:cNvSpPr txBox="1"/>
          <p:nvPr/>
        </p:nvSpPr>
        <p:spPr>
          <a:xfrm>
            <a:off x="548640" y="2203704"/>
            <a:ext cx="11091672" cy="548640"/>
          </a:xfrm>
          <a:prstGeom prst="rect">
            <a:avLst/>
          </a:prstGeom>
          <a:noFill/>
        </p:spPr>
        <p:txBody>
          <a:bodyPr wrap="square">
            <a:spAutoFit/>
          </a:bodyPr>
          <a:lstStyle/>
          <a:p>
            <a:pPr algn="l"/>
            <a:r>
              <a:rPr sz="1800" b="0">
                <a:solidFill>
                  <a:srgbClr val="111827"/>
                </a:solidFill>
              </a:rPr>
              <a:t>• Obrigações do EMPREGADOR: fornecer, treinar o uso, repor, fiscalizar e registrar.</a:t>
            </a:r>
          </a:p>
        </p:txBody>
      </p:sp>
      <p:sp>
        <p:nvSpPr>
          <p:cNvPr id="6" name="TextBox 5"/>
          <p:cNvSpPr txBox="1"/>
          <p:nvPr/>
        </p:nvSpPr>
        <p:spPr>
          <a:xfrm>
            <a:off x="548640" y="2734056"/>
            <a:ext cx="11091672" cy="548640"/>
          </a:xfrm>
          <a:prstGeom prst="rect">
            <a:avLst/>
          </a:prstGeom>
          <a:noFill/>
        </p:spPr>
        <p:txBody>
          <a:bodyPr wrap="square">
            <a:spAutoFit/>
          </a:bodyPr>
          <a:lstStyle/>
          <a:p>
            <a:pPr algn="l"/>
            <a:r>
              <a:rPr sz="1800" b="0">
                <a:solidFill>
                  <a:srgbClr val="111827"/>
                </a:solidFill>
              </a:rPr>
              <a:t>• Obrigações do EMPREGADO: usar corretamente, conservar, não modificar e comunicar defeitos.</a:t>
            </a:r>
          </a:p>
        </p:txBody>
      </p:sp>
      <p:sp>
        <p:nvSpPr>
          <p:cNvPr id="7" name="TextBox 6"/>
          <p:cNvSpPr txBox="1"/>
          <p:nvPr/>
        </p:nvSpPr>
        <p:spPr>
          <a:xfrm>
            <a:off x="548640" y="3264408"/>
            <a:ext cx="11091672" cy="548640"/>
          </a:xfrm>
          <a:prstGeom prst="rect">
            <a:avLst/>
          </a:prstGeom>
          <a:noFill/>
        </p:spPr>
        <p:txBody>
          <a:bodyPr wrap="square">
            <a:spAutoFit/>
          </a:bodyPr>
          <a:lstStyle/>
          <a:p>
            <a:pPr algn="l"/>
            <a:r>
              <a:rPr sz="1800" b="0">
                <a:solidFill>
                  <a:srgbClr val="111827"/>
                </a:solidFill>
              </a:rPr>
              <a:t>• Recusa injustificada ao uso de EPI é ato faltoso (advertência, suspensão, demissão).</a:t>
            </a:r>
          </a:p>
        </p:txBody>
      </p:sp>
      <p:sp>
        <p:nvSpPr>
          <p:cNvPr id="8" name="TextBox 7"/>
          <p:cNvSpPr txBox="1"/>
          <p:nvPr/>
        </p:nvSpPr>
        <p:spPr>
          <a:xfrm>
            <a:off x="548640" y="3794760"/>
            <a:ext cx="11091672" cy="548640"/>
          </a:xfrm>
          <a:prstGeom prst="rect">
            <a:avLst/>
          </a:prstGeom>
          <a:noFill/>
        </p:spPr>
        <p:txBody>
          <a:bodyPr wrap="square">
            <a:spAutoFit/>
          </a:bodyPr>
          <a:lstStyle/>
          <a:p>
            <a:pPr algn="l"/>
            <a:r>
              <a:rPr sz="1800" b="0">
                <a:solidFill>
                  <a:srgbClr val="111827"/>
                </a:solidFill>
              </a:rPr>
              <a:t>• EPI é a ÚLTIMA linha de defesa — o EPC (proteção coletiva) vem primeiro.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1672" cy="822960"/>
          </a:xfrm>
          <a:prstGeom prst="rect">
            <a:avLst/>
          </a:prstGeom>
          <a:noFill/>
        </p:spPr>
        <p:txBody>
          <a:bodyPr wrap="square">
            <a:spAutoFit/>
          </a:bodyPr>
          <a:lstStyle/>
          <a:p>
            <a:pPr algn="l"/>
            <a:r>
              <a:rPr sz="2600" b="1">
                <a:solidFill>
                  <a:srgbClr val="1A56DB"/>
                </a:solidFill>
              </a:rPr>
              <a:t>NR-15 — Atividades e Operações Insalubres</a:t>
            </a:r>
          </a:p>
        </p:txBody>
      </p:sp>
      <p:sp>
        <p:nvSpPr>
          <p:cNvPr id="3" name="TextBox 2"/>
          <p:cNvSpPr txBox="1"/>
          <p:nvPr/>
        </p:nvSpPr>
        <p:spPr>
          <a:xfrm>
            <a:off x="548640" y="1143000"/>
            <a:ext cx="11091672" cy="548640"/>
          </a:xfrm>
          <a:prstGeom prst="rect">
            <a:avLst/>
          </a:prstGeom>
          <a:noFill/>
        </p:spPr>
        <p:txBody>
          <a:bodyPr wrap="square">
            <a:spAutoFit/>
          </a:bodyPr>
          <a:lstStyle/>
          <a:p>
            <a:pPr algn="l"/>
            <a:r>
              <a:rPr sz="1800" b="0">
                <a:solidFill>
                  <a:srgbClr val="111827"/>
                </a:solidFill>
              </a:rPr>
              <a:t>• Insalubridade = exposição a agentes que causam DANO PROGRESSIVO à saúde.</a:t>
            </a:r>
          </a:p>
        </p:txBody>
      </p:sp>
      <p:sp>
        <p:nvSpPr>
          <p:cNvPr id="4" name="TextBox 3"/>
          <p:cNvSpPr txBox="1"/>
          <p:nvPr/>
        </p:nvSpPr>
        <p:spPr>
          <a:xfrm>
            <a:off x="548640" y="1673352"/>
            <a:ext cx="11091672" cy="548640"/>
          </a:xfrm>
          <a:prstGeom prst="rect">
            <a:avLst/>
          </a:prstGeom>
          <a:noFill/>
        </p:spPr>
        <p:txBody>
          <a:bodyPr wrap="square">
            <a:spAutoFit/>
          </a:bodyPr>
          <a:lstStyle/>
          <a:p>
            <a:pPr algn="l"/>
            <a:r>
              <a:rPr sz="1800" b="0">
                <a:solidFill>
                  <a:srgbClr val="111827"/>
                </a:solidFill>
              </a:rPr>
              <a:t>• Agentes: físicos (ruído, calor, vibração), químicos (poeiras, gases) e biológicos.</a:t>
            </a:r>
          </a:p>
        </p:txBody>
      </p:sp>
      <p:sp>
        <p:nvSpPr>
          <p:cNvPr id="5" name="TextBox 4"/>
          <p:cNvSpPr txBox="1"/>
          <p:nvPr/>
        </p:nvSpPr>
        <p:spPr>
          <a:xfrm>
            <a:off x="548640" y="2203704"/>
            <a:ext cx="11091672" cy="548640"/>
          </a:xfrm>
          <a:prstGeom prst="rect">
            <a:avLst/>
          </a:prstGeom>
          <a:noFill/>
        </p:spPr>
        <p:txBody>
          <a:bodyPr wrap="square">
            <a:spAutoFit/>
          </a:bodyPr>
          <a:lstStyle/>
          <a:p>
            <a:pPr algn="l"/>
            <a:r>
              <a:rPr sz="1800" b="0">
                <a:solidFill>
                  <a:srgbClr val="111827"/>
                </a:solidFill>
              </a:rPr>
              <a:t>• Graus e adicionais sobre o salário MÍNIMO:</a:t>
            </a:r>
          </a:p>
        </p:txBody>
      </p:sp>
      <p:sp>
        <p:nvSpPr>
          <p:cNvPr id="6" name="TextBox 5"/>
          <p:cNvSpPr txBox="1"/>
          <p:nvPr/>
        </p:nvSpPr>
        <p:spPr>
          <a:xfrm>
            <a:off x="548640" y="2734056"/>
            <a:ext cx="11091672" cy="548640"/>
          </a:xfrm>
          <a:prstGeom prst="rect">
            <a:avLst/>
          </a:prstGeom>
          <a:noFill/>
        </p:spPr>
        <p:txBody>
          <a:bodyPr wrap="square">
            <a:spAutoFit/>
          </a:bodyPr>
          <a:lstStyle/>
          <a:p>
            <a:pPr algn="l"/>
            <a:r>
              <a:rPr sz="1800" b="0">
                <a:solidFill>
                  <a:srgbClr val="111827"/>
                </a:solidFill>
              </a:rPr>
              <a:t>     Mínimo (Grau 1): 10% do salário mínimo.</a:t>
            </a:r>
          </a:p>
        </p:txBody>
      </p:sp>
      <p:sp>
        <p:nvSpPr>
          <p:cNvPr id="7" name="TextBox 6"/>
          <p:cNvSpPr txBox="1"/>
          <p:nvPr/>
        </p:nvSpPr>
        <p:spPr>
          <a:xfrm>
            <a:off x="548640" y="3264408"/>
            <a:ext cx="11091672" cy="548640"/>
          </a:xfrm>
          <a:prstGeom prst="rect">
            <a:avLst/>
          </a:prstGeom>
          <a:noFill/>
        </p:spPr>
        <p:txBody>
          <a:bodyPr wrap="square">
            <a:spAutoFit/>
          </a:bodyPr>
          <a:lstStyle/>
          <a:p>
            <a:pPr algn="l"/>
            <a:r>
              <a:rPr sz="1800" b="0">
                <a:solidFill>
                  <a:srgbClr val="111827"/>
                </a:solidFill>
              </a:rPr>
              <a:t>     Médio  (Grau 2): 20% do salário mínimo.</a:t>
            </a:r>
          </a:p>
        </p:txBody>
      </p:sp>
      <p:sp>
        <p:nvSpPr>
          <p:cNvPr id="8" name="TextBox 7"/>
          <p:cNvSpPr txBox="1"/>
          <p:nvPr/>
        </p:nvSpPr>
        <p:spPr>
          <a:xfrm>
            <a:off x="548640" y="3794760"/>
            <a:ext cx="11091672" cy="548640"/>
          </a:xfrm>
          <a:prstGeom prst="rect">
            <a:avLst/>
          </a:prstGeom>
          <a:noFill/>
        </p:spPr>
        <p:txBody>
          <a:bodyPr wrap="square">
            <a:spAutoFit/>
          </a:bodyPr>
          <a:lstStyle/>
          <a:p>
            <a:pPr algn="l"/>
            <a:r>
              <a:rPr sz="1800" b="0">
                <a:solidFill>
                  <a:srgbClr val="111827"/>
                </a:solidFill>
              </a:rPr>
              <a:t>     Máximo (Grau 3): 40% do salário mínimo.</a:t>
            </a:r>
          </a:p>
        </p:txBody>
      </p:sp>
      <p:sp>
        <p:nvSpPr>
          <p:cNvPr id="9" name="TextBox 8"/>
          <p:cNvSpPr txBox="1"/>
          <p:nvPr/>
        </p:nvSpPr>
        <p:spPr>
          <a:xfrm>
            <a:off x="548640" y="4325112"/>
            <a:ext cx="11091672" cy="548640"/>
          </a:xfrm>
          <a:prstGeom prst="rect">
            <a:avLst/>
          </a:prstGeom>
          <a:noFill/>
        </p:spPr>
        <p:txBody>
          <a:bodyPr wrap="square">
            <a:spAutoFit/>
          </a:bodyPr>
          <a:lstStyle/>
          <a:p>
            <a:pPr algn="l"/>
            <a:r>
              <a:rPr sz="1800" b="0">
                <a:solidFill>
                  <a:srgbClr val="111827"/>
                </a:solidFill>
              </a:rPr>
              <a:t>• Comprovado por laudo de médico ou engenheiro de segurança do trabalho.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1672" cy="822960"/>
          </a:xfrm>
          <a:prstGeom prst="rect">
            <a:avLst/>
          </a:prstGeom>
          <a:noFill/>
        </p:spPr>
        <p:txBody>
          <a:bodyPr wrap="square">
            <a:spAutoFit/>
          </a:bodyPr>
          <a:lstStyle/>
          <a:p>
            <a:pPr algn="l"/>
            <a:r>
              <a:rPr sz="2600" b="1">
                <a:solidFill>
                  <a:srgbClr val="1A56DB"/>
                </a:solidFill>
              </a:rPr>
              <a:t>NR-16 — Atividades e Operações Perigosas</a:t>
            </a:r>
          </a:p>
        </p:txBody>
      </p:sp>
      <p:sp>
        <p:nvSpPr>
          <p:cNvPr id="3" name="TextBox 2"/>
          <p:cNvSpPr txBox="1"/>
          <p:nvPr/>
        </p:nvSpPr>
        <p:spPr>
          <a:xfrm>
            <a:off x="548640" y="1143000"/>
            <a:ext cx="11091672" cy="548640"/>
          </a:xfrm>
          <a:prstGeom prst="rect">
            <a:avLst/>
          </a:prstGeom>
          <a:noFill/>
        </p:spPr>
        <p:txBody>
          <a:bodyPr wrap="square">
            <a:spAutoFit/>
          </a:bodyPr>
          <a:lstStyle/>
          <a:p>
            <a:pPr algn="l"/>
            <a:r>
              <a:rPr sz="1800" b="0">
                <a:solidFill>
                  <a:srgbClr val="111827"/>
                </a:solidFill>
              </a:rPr>
              <a:t>• Periculosidade = risco de FATALIDADE IMEDIATA (explosivo, elétrico, radiação, roubos).</a:t>
            </a:r>
          </a:p>
        </p:txBody>
      </p:sp>
      <p:sp>
        <p:nvSpPr>
          <p:cNvPr id="4" name="TextBox 3"/>
          <p:cNvSpPr txBox="1"/>
          <p:nvPr/>
        </p:nvSpPr>
        <p:spPr>
          <a:xfrm>
            <a:off x="548640" y="1673352"/>
            <a:ext cx="11091672" cy="548640"/>
          </a:xfrm>
          <a:prstGeom prst="rect">
            <a:avLst/>
          </a:prstGeom>
          <a:noFill/>
        </p:spPr>
        <p:txBody>
          <a:bodyPr wrap="square">
            <a:spAutoFit/>
          </a:bodyPr>
          <a:lstStyle/>
          <a:p>
            <a:pPr algn="l"/>
            <a:r>
              <a:rPr sz="1800" b="0">
                <a:solidFill>
                  <a:srgbClr val="111827"/>
                </a:solidFill>
              </a:rPr>
              <a:t>• Diferença fundamental: NR-15 = dano progressivo. NR-16 = risco imediato de morte.</a:t>
            </a:r>
          </a:p>
        </p:txBody>
      </p:sp>
      <p:sp>
        <p:nvSpPr>
          <p:cNvPr id="5" name="TextBox 4"/>
          <p:cNvSpPr txBox="1"/>
          <p:nvPr/>
        </p:nvSpPr>
        <p:spPr>
          <a:xfrm>
            <a:off x="548640" y="2203704"/>
            <a:ext cx="11091672" cy="548640"/>
          </a:xfrm>
          <a:prstGeom prst="rect">
            <a:avLst/>
          </a:prstGeom>
          <a:noFill/>
        </p:spPr>
        <p:txBody>
          <a:bodyPr wrap="square">
            <a:spAutoFit/>
          </a:bodyPr>
          <a:lstStyle/>
          <a:p>
            <a:pPr algn="l"/>
            <a:r>
              <a:rPr sz="1800" b="0">
                <a:solidFill>
                  <a:srgbClr val="111827"/>
                </a:solidFill>
              </a:rPr>
              <a:t>• Adicional FIXO de 30% sobre o salário BASE contratual (não sobre o mínimo).</a:t>
            </a:r>
          </a:p>
        </p:txBody>
      </p:sp>
      <p:sp>
        <p:nvSpPr>
          <p:cNvPr id="6" name="TextBox 5"/>
          <p:cNvSpPr txBox="1"/>
          <p:nvPr/>
        </p:nvSpPr>
        <p:spPr>
          <a:xfrm>
            <a:off x="548640" y="2734056"/>
            <a:ext cx="11091672" cy="548640"/>
          </a:xfrm>
          <a:prstGeom prst="rect">
            <a:avLst/>
          </a:prstGeom>
          <a:noFill/>
        </p:spPr>
        <p:txBody>
          <a:bodyPr wrap="square">
            <a:spAutoFit/>
          </a:bodyPr>
          <a:lstStyle/>
          <a:p>
            <a:pPr algn="l"/>
            <a:r>
              <a:rPr sz="1800" b="0">
                <a:solidFill>
                  <a:srgbClr val="111827"/>
                </a:solidFill>
              </a:rPr>
              <a:t>• Atividades: eletricidade, explosivos, inflamáveis, segurança pessoal, motocicletas.</a:t>
            </a:r>
          </a:p>
        </p:txBody>
      </p:sp>
      <p:sp>
        <p:nvSpPr>
          <p:cNvPr id="7" name="TextBox 6"/>
          <p:cNvSpPr txBox="1"/>
          <p:nvPr/>
        </p:nvSpPr>
        <p:spPr>
          <a:xfrm>
            <a:off x="548640" y="3264408"/>
            <a:ext cx="11091672" cy="548640"/>
          </a:xfrm>
          <a:prstGeom prst="rect">
            <a:avLst/>
          </a:prstGeom>
          <a:noFill/>
        </p:spPr>
        <p:txBody>
          <a:bodyPr wrap="square">
            <a:spAutoFit/>
          </a:bodyPr>
          <a:lstStyle/>
          <a:p>
            <a:pPr algn="l"/>
            <a:r>
              <a:rPr sz="1800" b="0">
                <a:solidFill>
                  <a:srgbClr val="111827"/>
                </a:solidFill>
              </a:rPr>
              <a:t>• Trabalhador não pode receber insalubridade E periculosidade — escolhe o mais vantajoso.</a:t>
            </a:r>
          </a:p>
        </p:txBody>
      </p:sp>
      <p:sp>
        <p:nvSpPr>
          <p:cNvPr id="8" name="TextBox 7"/>
          <p:cNvSpPr txBox="1"/>
          <p:nvPr/>
        </p:nvSpPr>
        <p:spPr>
          <a:xfrm>
            <a:off x="548640" y="3794760"/>
            <a:ext cx="11091672" cy="548640"/>
          </a:xfrm>
          <a:prstGeom prst="rect">
            <a:avLst/>
          </a:prstGeom>
          <a:noFill/>
        </p:spPr>
        <p:txBody>
          <a:bodyPr wrap="square">
            <a:spAutoFit/>
          </a:bodyPr>
          <a:lstStyle/>
          <a:p>
            <a:pPr algn="l"/>
            <a:r>
              <a:rPr sz="1800" b="0">
                <a:solidFill>
                  <a:srgbClr val="111827"/>
                </a:solidFill>
              </a:rPr>
              <a:t>• Comprovado por laudo pericial de engenheiro de segurança.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1672" cy="822960"/>
          </a:xfrm>
          <a:prstGeom prst="rect">
            <a:avLst/>
          </a:prstGeom>
          <a:noFill/>
        </p:spPr>
        <p:txBody>
          <a:bodyPr wrap="square">
            <a:spAutoFit/>
          </a:bodyPr>
          <a:lstStyle/>
          <a:p>
            <a:pPr algn="l"/>
            <a:r>
              <a:rPr sz="2600" b="1">
                <a:solidFill>
                  <a:srgbClr val="1A56DB"/>
                </a:solidFill>
              </a:rPr>
              <a:t>NR-17 — Ergonomia</a:t>
            </a:r>
          </a:p>
        </p:txBody>
      </p:sp>
      <p:sp>
        <p:nvSpPr>
          <p:cNvPr id="3" name="TextBox 2"/>
          <p:cNvSpPr txBox="1"/>
          <p:nvPr/>
        </p:nvSpPr>
        <p:spPr>
          <a:xfrm>
            <a:off x="548640" y="1143000"/>
            <a:ext cx="11091672" cy="548640"/>
          </a:xfrm>
          <a:prstGeom prst="rect">
            <a:avLst/>
          </a:prstGeom>
          <a:noFill/>
        </p:spPr>
        <p:txBody>
          <a:bodyPr wrap="square">
            <a:spAutoFit/>
          </a:bodyPr>
          <a:lstStyle/>
          <a:p>
            <a:pPr algn="l"/>
            <a:r>
              <a:rPr sz="1800" b="0">
                <a:solidFill>
                  <a:srgbClr val="111827"/>
                </a:solidFill>
              </a:rPr>
              <a:t>• Objetivo: adaptar as condições de trabalho às características do trabalhador.</a:t>
            </a:r>
          </a:p>
        </p:txBody>
      </p:sp>
      <p:sp>
        <p:nvSpPr>
          <p:cNvPr id="4" name="TextBox 3"/>
          <p:cNvSpPr txBox="1"/>
          <p:nvPr/>
        </p:nvSpPr>
        <p:spPr>
          <a:xfrm>
            <a:off x="548640" y="1673352"/>
            <a:ext cx="11091672" cy="548640"/>
          </a:xfrm>
          <a:prstGeom prst="rect">
            <a:avLst/>
          </a:prstGeom>
          <a:noFill/>
        </p:spPr>
        <p:txBody>
          <a:bodyPr wrap="square">
            <a:spAutoFit/>
          </a:bodyPr>
          <a:lstStyle/>
          <a:p>
            <a:pPr algn="l"/>
            <a:r>
              <a:rPr sz="1800" b="0">
                <a:solidFill>
                  <a:srgbClr val="111827"/>
                </a:solidFill>
              </a:rPr>
              <a:t>• Previne LER (Lesão por Esforço Repetitivo) e DORT (Distúrbio Osteomuscular).</a:t>
            </a:r>
          </a:p>
        </p:txBody>
      </p:sp>
      <p:sp>
        <p:nvSpPr>
          <p:cNvPr id="5" name="TextBox 4"/>
          <p:cNvSpPr txBox="1"/>
          <p:nvPr/>
        </p:nvSpPr>
        <p:spPr>
          <a:xfrm>
            <a:off x="548640" y="2203704"/>
            <a:ext cx="11091672" cy="548640"/>
          </a:xfrm>
          <a:prstGeom prst="rect">
            <a:avLst/>
          </a:prstGeom>
          <a:noFill/>
        </p:spPr>
        <p:txBody>
          <a:bodyPr wrap="square">
            <a:spAutoFit/>
          </a:bodyPr>
          <a:lstStyle/>
          <a:p>
            <a:pPr algn="l"/>
            <a:r>
              <a:rPr sz="1800" b="0">
                <a:solidFill>
                  <a:srgbClr val="111827"/>
                </a:solidFill>
              </a:rPr>
              <a:t>• Abrange: mobiliário, equipamentos, condições ambientais e organização do trabalho.</a:t>
            </a:r>
          </a:p>
        </p:txBody>
      </p:sp>
      <p:sp>
        <p:nvSpPr>
          <p:cNvPr id="6" name="TextBox 5"/>
          <p:cNvSpPr txBox="1"/>
          <p:nvPr/>
        </p:nvSpPr>
        <p:spPr>
          <a:xfrm>
            <a:off x="548640" y="2734056"/>
            <a:ext cx="11091672" cy="548640"/>
          </a:xfrm>
          <a:prstGeom prst="rect">
            <a:avLst/>
          </a:prstGeom>
          <a:noFill/>
        </p:spPr>
        <p:txBody>
          <a:bodyPr wrap="square">
            <a:spAutoFit/>
          </a:bodyPr>
          <a:lstStyle/>
          <a:p>
            <a:pPr algn="l"/>
            <a:r>
              <a:rPr sz="1800" b="0">
                <a:solidFill>
                  <a:srgbClr val="111827"/>
                </a:solidFill>
              </a:rPr>
              <a:t>• Limites de levantamento manual de peso (sem auxílio): 60 kg homem / 20 kg mulher.</a:t>
            </a:r>
          </a:p>
        </p:txBody>
      </p:sp>
      <p:sp>
        <p:nvSpPr>
          <p:cNvPr id="7" name="TextBox 6"/>
          <p:cNvSpPr txBox="1"/>
          <p:nvPr/>
        </p:nvSpPr>
        <p:spPr>
          <a:xfrm>
            <a:off x="548640" y="3264408"/>
            <a:ext cx="11091672" cy="548640"/>
          </a:xfrm>
          <a:prstGeom prst="rect">
            <a:avLst/>
          </a:prstGeom>
          <a:noFill/>
        </p:spPr>
        <p:txBody>
          <a:bodyPr wrap="square">
            <a:spAutoFit/>
          </a:bodyPr>
          <a:lstStyle/>
          <a:p>
            <a:pPr algn="l"/>
            <a:r>
              <a:rPr sz="1800" b="0">
                <a:solidFill>
                  <a:srgbClr val="111827"/>
                </a:solidFill>
              </a:rPr>
              <a:t>• Análise Ergonômica do Trabalho (AET) obrigatória para atividades de risco.</a:t>
            </a:r>
          </a:p>
        </p:txBody>
      </p:sp>
      <p:sp>
        <p:nvSpPr>
          <p:cNvPr id="8" name="TextBox 7"/>
          <p:cNvSpPr txBox="1"/>
          <p:nvPr/>
        </p:nvSpPr>
        <p:spPr>
          <a:xfrm>
            <a:off x="548640" y="3794760"/>
            <a:ext cx="11091672" cy="548640"/>
          </a:xfrm>
          <a:prstGeom prst="rect">
            <a:avLst/>
          </a:prstGeom>
          <a:noFill/>
        </p:spPr>
        <p:txBody>
          <a:bodyPr wrap="square">
            <a:spAutoFit/>
          </a:bodyPr>
          <a:lstStyle/>
          <a:p>
            <a:pPr algn="l"/>
            <a:r>
              <a:rPr sz="1800" b="0">
                <a:solidFill>
                  <a:srgbClr val="111827"/>
                </a:solidFill>
              </a:rPr>
              <a:t>• Pausas, postura correta, altura de bancadas e iluminação são reguladas pela NR-17.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1672" cy="822960"/>
          </a:xfrm>
          <a:prstGeom prst="rect">
            <a:avLst/>
          </a:prstGeom>
          <a:noFill/>
        </p:spPr>
        <p:txBody>
          <a:bodyPr wrap="square">
            <a:spAutoFit/>
          </a:bodyPr>
          <a:lstStyle/>
          <a:p>
            <a:pPr algn="l"/>
            <a:r>
              <a:rPr sz="2600" b="1">
                <a:solidFill>
                  <a:srgbClr val="1A56DB"/>
                </a:solidFill>
              </a:rPr>
              <a:t>NR-23 — Proteção Contra Incêndios</a:t>
            </a:r>
          </a:p>
        </p:txBody>
      </p:sp>
      <p:sp>
        <p:nvSpPr>
          <p:cNvPr id="3" name="TextBox 2"/>
          <p:cNvSpPr txBox="1"/>
          <p:nvPr/>
        </p:nvSpPr>
        <p:spPr>
          <a:xfrm>
            <a:off x="548640" y="1143000"/>
            <a:ext cx="11091672" cy="548640"/>
          </a:xfrm>
          <a:prstGeom prst="rect">
            <a:avLst/>
          </a:prstGeom>
          <a:noFill/>
        </p:spPr>
        <p:txBody>
          <a:bodyPr wrap="square">
            <a:spAutoFit/>
          </a:bodyPr>
          <a:lstStyle/>
          <a:p>
            <a:pPr algn="l"/>
            <a:r>
              <a:rPr sz="1800" b="0">
                <a:solidFill>
                  <a:srgbClr val="111827"/>
                </a:solidFill>
              </a:rPr>
              <a:t>• Obrigações do empregador em proteção contra incêndio:</a:t>
            </a:r>
          </a:p>
        </p:txBody>
      </p:sp>
      <p:sp>
        <p:nvSpPr>
          <p:cNvPr id="4" name="TextBox 3"/>
          <p:cNvSpPr txBox="1"/>
          <p:nvPr/>
        </p:nvSpPr>
        <p:spPr>
          <a:xfrm>
            <a:off x="548640" y="1673352"/>
            <a:ext cx="11091672" cy="548640"/>
          </a:xfrm>
          <a:prstGeom prst="rect">
            <a:avLst/>
          </a:prstGeom>
          <a:noFill/>
        </p:spPr>
        <p:txBody>
          <a:bodyPr wrap="square">
            <a:spAutoFit/>
          </a:bodyPr>
          <a:lstStyle/>
          <a:p>
            <a:pPr algn="l"/>
            <a:r>
              <a:rPr sz="1800" b="0">
                <a:solidFill>
                  <a:srgbClr val="111827"/>
                </a:solidFill>
              </a:rPr>
              <a:t>• Saídas de emergência suficientes, sinalizadas e SEMPRE desobstruídas.</a:t>
            </a:r>
          </a:p>
        </p:txBody>
      </p:sp>
      <p:sp>
        <p:nvSpPr>
          <p:cNvPr id="5" name="TextBox 4"/>
          <p:cNvSpPr txBox="1"/>
          <p:nvPr/>
        </p:nvSpPr>
        <p:spPr>
          <a:xfrm>
            <a:off x="548640" y="2203704"/>
            <a:ext cx="11091672" cy="548640"/>
          </a:xfrm>
          <a:prstGeom prst="rect">
            <a:avLst/>
          </a:prstGeom>
          <a:noFill/>
        </p:spPr>
        <p:txBody>
          <a:bodyPr wrap="square">
            <a:spAutoFit/>
          </a:bodyPr>
          <a:lstStyle/>
          <a:p>
            <a:pPr algn="l"/>
            <a:r>
              <a:rPr sz="1800" b="0">
                <a:solidFill>
                  <a:srgbClr val="111827"/>
                </a:solidFill>
              </a:rPr>
              <a:t>• Extintores em número, tipo e localização adequados ao risco (NBR 12693).</a:t>
            </a:r>
          </a:p>
        </p:txBody>
      </p:sp>
      <p:sp>
        <p:nvSpPr>
          <p:cNvPr id="6" name="TextBox 5"/>
          <p:cNvSpPr txBox="1"/>
          <p:nvPr/>
        </p:nvSpPr>
        <p:spPr>
          <a:xfrm>
            <a:off x="548640" y="2734056"/>
            <a:ext cx="11091672" cy="548640"/>
          </a:xfrm>
          <a:prstGeom prst="rect">
            <a:avLst/>
          </a:prstGeom>
          <a:noFill/>
        </p:spPr>
        <p:txBody>
          <a:bodyPr wrap="square">
            <a:spAutoFit/>
          </a:bodyPr>
          <a:lstStyle/>
          <a:p>
            <a:pPr algn="l"/>
            <a:r>
              <a:rPr sz="1800" b="0">
                <a:solidFill>
                  <a:srgbClr val="111827"/>
                </a:solidFill>
              </a:rPr>
              <a:t>• Brigada de Incêndio treinada conforme o porte e o risco da empresa.</a:t>
            </a:r>
          </a:p>
        </p:txBody>
      </p:sp>
      <p:sp>
        <p:nvSpPr>
          <p:cNvPr id="7" name="TextBox 6"/>
          <p:cNvSpPr txBox="1"/>
          <p:nvPr/>
        </p:nvSpPr>
        <p:spPr>
          <a:xfrm>
            <a:off x="548640" y="3264408"/>
            <a:ext cx="11091672" cy="548640"/>
          </a:xfrm>
          <a:prstGeom prst="rect">
            <a:avLst/>
          </a:prstGeom>
          <a:noFill/>
        </p:spPr>
        <p:txBody>
          <a:bodyPr wrap="square">
            <a:spAutoFit/>
          </a:bodyPr>
          <a:lstStyle/>
          <a:p>
            <a:pPr algn="l"/>
            <a:r>
              <a:rPr sz="1800" b="0">
                <a:solidFill>
                  <a:srgbClr val="111827"/>
                </a:solidFill>
              </a:rPr>
              <a:t>• Plano de Emergência e simulados periódicos obrigatórios.</a:t>
            </a:r>
          </a:p>
        </p:txBody>
      </p:sp>
      <p:sp>
        <p:nvSpPr>
          <p:cNvPr id="8" name="TextBox 7"/>
          <p:cNvSpPr txBox="1"/>
          <p:nvPr/>
        </p:nvSpPr>
        <p:spPr>
          <a:xfrm>
            <a:off x="548640" y="3794760"/>
            <a:ext cx="11091672" cy="548640"/>
          </a:xfrm>
          <a:prstGeom prst="rect">
            <a:avLst/>
          </a:prstGeom>
          <a:noFill/>
        </p:spPr>
        <p:txBody>
          <a:bodyPr wrap="square">
            <a:spAutoFit/>
          </a:bodyPr>
          <a:lstStyle/>
          <a:p>
            <a:pPr algn="l"/>
            <a:r>
              <a:rPr sz="1800" b="0">
                <a:solidFill>
                  <a:srgbClr val="111827"/>
                </a:solidFill>
              </a:rPr>
              <a:t>• PPCI (Plano de Prevenção e Proteção) aprovado pelo Corpo de Bombeiros.</a:t>
            </a:r>
          </a:p>
        </p:txBody>
      </p:sp>
      <p:sp>
        <p:nvSpPr>
          <p:cNvPr id="9" name="TextBox 8"/>
          <p:cNvSpPr txBox="1"/>
          <p:nvPr/>
        </p:nvSpPr>
        <p:spPr>
          <a:xfrm>
            <a:off x="548640" y="4325112"/>
            <a:ext cx="11091672" cy="548640"/>
          </a:xfrm>
          <a:prstGeom prst="rect">
            <a:avLst/>
          </a:prstGeom>
          <a:noFill/>
        </p:spPr>
        <p:txBody>
          <a:bodyPr wrap="square">
            <a:spAutoFit/>
          </a:bodyPr>
          <a:lstStyle/>
          <a:p>
            <a:pPr algn="l"/>
            <a:r>
              <a:rPr sz="1800" b="0">
                <a:solidFill>
                  <a:srgbClr val="111827"/>
                </a:solidFill>
              </a:rPr>
              <a:t>• Fiscalização: Corpo de Bombeiros Militar + Ministério do Trabalho e Emprego.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1672" cy="822960"/>
          </a:xfrm>
          <a:prstGeom prst="rect">
            <a:avLst/>
          </a:prstGeom>
          <a:noFill/>
        </p:spPr>
        <p:txBody>
          <a:bodyPr wrap="square">
            <a:spAutoFit/>
          </a:bodyPr>
          <a:lstStyle/>
          <a:p>
            <a:pPr algn="l"/>
            <a:r>
              <a:rPr sz="2600" b="1">
                <a:solidFill>
                  <a:srgbClr val="1A56DB"/>
                </a:solidFill>
              </a:rPr>
              <a:t>NR-35 — Trabalho em Altura</a:t>
            </a:r>
          </a:p>
        </p:txBody>
      </p:sp>
      <p:sp>
        <p:nvSpPr>
          <p:cNvPr id="3" name="TextBox 2"/>
          <p:cNvSpPr txBox="1"/>
          <p:nvPr/>
        </p:nvSpPr>
        <p:spPr>
          <a:xfrm>
            <a:off x="548640" y="1143000"/>
            <a:ext cx="11091672" cy="548640"/>
          </a:xfrm>
          <a:prstGeom prst="rect">
            <a:avLst/>
          </a:prstGeom>
          <a:noFill/>
        </p:spPr>
        <p:txBody>
          <a:bodyPr wrap="square">
            <a:spAutoFit/>
          </a:bodyPr>
          <a:lstStyle/>
          <a:p>
            <a:pPr algn="l"/>
            <a:r>
              <a:rPr sz="1800" b="0">
                <a:solidFill>
                  <a:srgbClr val="111827"/>
                </a:solidFill>
              </a:rPr>
              <a:t>• Aplica-se a toda atividade realizada ACIMA DE 2 METROS do nível de referência.</a:t>
            </a:r>
          </a:p>
        </p:txBody>
      </p:sp>
      <p:sp>
        <p:nvSpPr>
          <p:cNvPr id="4" name="TextBox 3"/>
          <p:cNvSpPr txBox="1"/>
          <p:nvPr/>
        </p:nvSpPr>
        <p:spPr>
          <a:xfrm>
            <a:off x="548640" y="1673352"/>
            <a:ext cx="11091672" cy="548640"/>
          </a:xfrm>
          <a:prstGeom prst="rect">
            <a:avLst/>
          </a:prstGeom>
          <a:noFill/>
        </p:spPr>
        <p:txBody>
          <a:bodyPr wrap="square">
            <a:spAutoFit/>
          </a:bodyPr>
          <a:lstStyle/>
          <a:p>
            <a:pPr algn="l"/>
            <a:r>
              <a:rPr sz="1800" b="0">
                <a:solidFill>
                  <a:srgbClr val="111827"/>
                </a:solidFill>
              </a:rPr>
              <a:t>• Todo trabalhador em altura deve receber treinamento específico (reciclagem a cada 2 anos).</a:t>
            </a:r>
          </a:p>
        </p:txBody>
      </p:sp>
      <p:sp>
        <p:nvSpPr>
          <p:cNvPr id="5" name="TextBox 4"/>
          <p:cNvSpPr txBox="1"/>
          <p:nvPr/>
        </p:nvSpPr>
        <p:spPr>
          <a:xfrm>
            <a:off x="548640" y="2203704"/>
            <a:ext cx="11091672" cy="548640"/>
          </a:xfrm>
          <a:prstGeom prst="rect">
            <a:avLst/>
          </a:prstGeom>
          <a:noFill/>
        </p:spPr>
        <p:txBody>
          <a:bodyPr wrap="square">
            <a:spAutoFit/>
          </a:bodyPr>
          <a:lstStyle/>
          <a:p>
            <a:pPr algn="l"/>
            <a:r>
              <a:rPr sz="1800" b="0">
                <a:solidFill>
                  <a:srgbClr val="111827"/>
                </a:solidFill>
              </a:rPr>
              <a:t>• APR — Análise Preliminar de Risco: obrigatória antes de cada trabalho em altura.</a:t>
            </a:r>
          </a:p>
        </p:txBody>
      </p:sp>
      <p:sp>
        <p:nvSpPr>
          <p:cNvPr id="6" name="TextBox 5"/>
          <p:cNvSpPr txBox="1"/>
          <p:nvPr/>
        </p:nvSpPr>
        <p:spPr>
          <a:xfrm>
            <a:off x="548640" y="2734056"/>
            <a:ext cx="11091672" cy="548640"/>
          </a:xfrm>
          <a:prstGeom prst="rect">
            <a:avLst/>
          </a:prstGeom>
          <a:noFill/>
        </p:spPr>
        <p:txBody>
          <a:bodyPr wrap="square">
            <a:spAutoFit/>
          </a:bodyPr>
          <a:lstStyle/>
          <a:p>
            <a:pPr algn="l"/>
            <a:r>
              <a:rPr sz="1800" b="0">
                <a:solidFill>
                  <a:srgbClr val="111827"/>
                </a:solidFill>
              </a:rPr>
              <a:t>• PTS — Permissão de Trabalho em Altura: documento formal de autorização.</a:t>
            </a:r>
          </a:p>
        </p:txBody>
      </p:sp>
      <p:sp>
        <p:nvSpPr>
          <p:cNvPr id="7" name="TextBox 6"/>
          <p:cNvSpPr txBox="1"/>
          <p:nvPr/>
        </p:nvSpPr>
        <p:spPr>
          <a:xfrm>
            <a:off x="548640" y="3264408"/>
            <a:ext cx="11091672" cy="548640"/>
          </a:xfrm>
          <a:prstGeom prst="rect">
            <a:avLst/>
          </a:prstGeom>
          <a:noFill/>
        </p:spPr>
        <p:txBody>
          <a:bodyPr wrap="square">
            <a:spAutoFit/>
          </a:bodyPr>
          <a:lstStyle/>
          <a:p>
            <a:pPr algn="l"/>
            <a:r>
              <a:rPr sz="1800" b="0">
                <a:solidFill>
                  <a:srgbClr val="111827"/>
                </a:solidFill>
              </a:rPr>
              <a:t>• EPIs obrigatórios: cinto de segurança tipo paraquedista + talabarte + capacete.</a:t>
            </a:r>
          </a:p>
        </p:txBody>
      </p:sp>
      <p:sp>
        <p:nvSpPr>
          <p:cNvPr id="8" name="TextBox 7"/>
          <p:cNvSpPr txBox="1"/>
          <p:nvPr/>
        </p:nvSpPr>
        <p:spPr>
          <a:xfrm>
            <a:off x="548640" y="3794760"/>
            <a:ext cx="11091672" cy="548640"/>
          </a:xfrm>
          <a:prstGeom prst="rect">
            <a:avLst/>
          </a:prstGeom>
          <a:noFill/>
        </p:spPr>
        <p:txBody>
          <a:bodyPr wrap="square">
            <a:spAutoFit/>
          </a:bodyPr>
          <a:lstStyle/>
          <a:p>
            <a:pPr algn="l"/>
            <a:r>
              <a:rPr sz="1800" b="0">
                <a:solidFill>
                  <a:srgbClr val="111827"/>
                </a:solidFill>
              </a:rPr>
              <a:t>• Ponto de ancoragem deve suportar no mínimo 15 kN (carga estática).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1672" cy="822960"/>
          </a:xfrm>
          <a:prstGeom prst="rect">
            <a:avLst/>
          </a:prstGeom>
          <a:noFill/>
        </p:spPr>
        <p:txBody>
          <a:bodyPr wrap="square">
            <a:spAutoFit/>
          </a:bodyPr>
          <a:lstStyle/>
          <a:p>
            <a:pPr algn="l"/>
            <a:r>
              <a:rPr sz="2600" b="1">
                <a:solidFill>
                  <a:srgbClr val="1A56DB"/>
                </a:solidFill>
              </a:rPr>
              <a:t>Hierarquia de Controle de Riscos (NR-01)</a:t>
            </a:r>
          </a:p>
        </p:txBody>
      </p:sp>
      <p:sp>
        <p:nvSpPr>
          <p:cNvPr id="3" name="TextBox 2"/>
          <p:cNvSpPr txBox="1"/>
          <p:nvPr/>
        </p:nvSpPr>
        <p:spPr>
          <a:xfrm>
            <a:off x="548640" y="1143000"/>
            <a:ext cx="11091672" cy="548640"/>
          </a:xfrm>
          <a:prstGeom prst="rect">
            <a:avLst/>
          </a:prstGeom>
          <a:noFill/>
        </p:spPr>
        <p:txBody>
          <a:bodyPr wrap="square">
            <a:spAutoFit/>
          </a:bodyPr>
          <a:lstStyle/>
          <a:p>
            <a:pPr algn="l"/>
            <a:r>
              <a:rPr sz="1800" b="0">
                <a:solidFill>
                  <a:srgbClr val="111827"/>
                </a:solidFill>
              </a:rPr>
              <a:t>1. ELIMINAÇÃO — remover completamente o perigo da atividade ou ambiente.</a:t>
            </a:r>
          </a:p>
        </p:txBody>
      </p:sp>
      <p:sp>
        <p:nvSpPr>
          <p:cNvPr id="4" name="TextBox 3"/>
          <p:cNvSpPr txBox="1"/>
          <p:nvPr/>
        </p:nvSpPr>
        <p:spPr>
          <a:xfrm>
            <a:off x="548640" y="1673352"/>
            <a:ext cx="11091672" cy="548640"/>
          </a:xfrm>
          <a:prstGeom prst="rect">
            <a:avLst/>
          </a:prstGeom>
          <a:noFill/>
        </p:spPr>
        <p:txBody>
          <a:bodyPr wrap="square">
            <a:spAutoFit/>
          </a:bodyPr>
          <a:lstStyle/>
          <a:p>
            <a:pPr algn="l"/>
            <a:r>
              <a:rPr sz="1800" b="0">
                <a:solidFill>
                  <a:srgbClr val="111827"/>
                </a:solidFill>
              </a:rPr>
              <a:t>2. SUBSTITUIÇÃO — trocar o agente/processo perigoso por um menos arriscado.</a:t>
            </a:r>
          </a:p>
        </p:txBody>
      </p:sp>
      <p:sp>
        <p:nvSpPr>
          <p:cNvPr id="5" name="TextBox 4"/>
          <p:cNvSpPr txBox="1"/>
          <p:nvPr/>
        </p:nvSpPr>
        <p:spPr>
          <a:xfrm>
            <a:off x="548640" y="2203704"/>
            <a:ext cx="11091672" cy="548640"/>
          </a:xfrm>
          <a:prstGeom prst="rect">
            <a:avLst/>
          </a:prstGeom>
          <a:noFill/>
        </p:spPr>
        <p:txBody>
          <a:bodyPr wrap="square">
            <a:spAutoFit/>
          </a:bodyPr>
          <a:lstStyle/>
          <a:p>
            <a:pPr algn="l"/>
            <a:r>
              <a:rPr sz="1800" b="0">
                <a:solidFill>
                  <a:srgbClr val="111827"/>
                </a:solidFill>
              </a:rPr>
              <a:t>3. CONTROLES DE ENGENHARIA (EPC) — enclausuramento, ventilação, proteções coletivas.</a:t>
            </a:r>
          </a:p>
        </p:txBody>
      </p:sp>
      <p:sp>
        <p:nvSpPr>
          <p:cNvPr id="6" name="TextBox 5"/>
          <p:cNvSpPr txBox="1"/>
          <p:nvPr/>
        </p:nvSpPr>
        <p:spPr>
          <a:xfrm>
            <a:off x="548640" y="2734056"/>
            <a:ext cx="11091672" cy="548640"/>
          </a:xfrm>
          <a:prstGeom prst="rect">
            <a:avLst/>
          </a:prstGeom>
          <a:noFill/>
        </p:spPr>
        <p:txBody>
          <a:bodyPr wrap="square">
            <a:spAutoFit/>
          </a:bodyPr>
          <a:lstStyle/>
          <a:p>
            <a:pPr algn="l"/>
            <a:r>
              <a:rPr sz="1800" b="0">
                <a:solidFill>
                  <a:srgbClr val="111827"/>
                </a:solidFill>
              </a:rPr>
              <a:t>4. CONTROLES ADMINISTRATIVOS — treinamento, rotatividade, sinalização, procedimentos.</a:t>
            </a:r>
          </a:p>
        </p:txBody>
      </p:sp>
      <p:sp>
        <p:nvSpPr>
          <p:cNvPr id="7" name="TextBox 6"/>
          <p:cNvSpPr txBox="1"/>
          <p:nvPr/>
        </p:nvSpPr>
        <p:spPr>
          <a:xfrm>
            <a:off x="548640" y="3264408"/>
            <a:ext cx="11091672" cy="548640"/>
          </a:xfrm>
          <a:prstGeom prst="rect">
            <a:avLst/>
          </a:prstGeom>
          <a:noFill/>
        </p:spPr>
        <p:txBody>
          <a:bodyPr wrap="square">
            <a:spAutoFit/>
          </a:bodyPr>
          <a:lstStyle/>
          <a:p>
            <a:pPr algn="l"/>
            <a:r>
              <a:rPr sz="1800" b="0">
                <a:solidFill>
                  <a:srgbClr val="111827"/>
                </a:solidFill>
              </a:rPr>
              <a:t>5. EPI — equipamento de proteção individual como ÚLTIMA linha de defesa.</a:t>
            </a:r>
          </a:p>
        </p:txBody>
      </p:sp>
      <p:sp>
        <p:nvSpPr>
          <p:cNvPr id="8" name="TextBox 7"/>
          <p:cNvSpPr txBox="1"/>
          <p:nvPr/>
        </p:nvSpPr>
        <p:spPr>
          <a:xfrm>
            <a:off x="548640" y="3794760"/>
            <a:ext cx="11091672" cy="548640"/>
          </a:xfrm>
          <a:prstGeom prst="rect">
            <a:avLst/>
          </a:prstGeom>
          <a:noFill/>
        </p:spPr>
        <p:txBody>
          <a:bodyPr wrap="square">
            <a:spAutoFit/>
          </a:bodyPr>
          <a:lstStyle/>
          <a:p>
            <a:pPr algn="l"/>
            <a:r>
              <a:rPr sz="1800" b="0">
                <a:solidFill>
                  <a:srgbClr val="111827"/>
                </a:solidFill>
              </a:rPr>
              <a:t>Regra: sempre aplicar os controles na maior hierarquia possível antes de recorrer ao EPI.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91672" cy="822960"/>
          </a:xfrm>
          <a:prstGeom prst="rect">
            <a:avLst/>
          </a:prstGeom>
          <a:noFill/>
        </p:spPr>
        <p:txBody>
          <a:bodyPr wrap="square">
            <a:spAutoFit/>
          </a:bodyPr>
          <a:lstStyle/>
          <a:p>
            <a:pPr algn="l"/>
            <a:r>
              <a:rPr sz="2600" b="1">
                <a:solidFill>
                  <a:srgbClr val="1A56DB"/>
                </a:solidFill>
              </a:rPr>
              <a:t>Resumo das NRs Abordadas</a:t>
            </a:r>
          </a:p>
        </p:txBody>
      </p:sp>
      <p:sp>
        <p:nvSpPr>
          <p:cNvPr id="3" name="TextBox 2"/>
          <p:cNvSpPr txBox="1"/>
          <p:nvPr/>
        </p:nvSpPr>
        <p:spPr>
          <a:xfrm>
            <a:off x="548640" y="1143000"/>
            <a:ext cx="11091672" cy="548640"/>
          </a:xfrm>
          <a:prstGeom prst="rect">
            <a:avLst/>
          </a:prstGeom>
          <a:noFill/>
        </p:spPr>
        <p:txBody>
          <a:bodyPr wrap="square">
            <a:spAutoFit/>
          </a:bodyPr>
          <a:lstStyle/>
          <a:p>
            <a:pPr algn="l"/>
            <a:r>
              <a:rPr sz="1800" b="0">
                <a:solidFill>
                  <a:srgbClr val="111827"/>
                </a:solidFill>
              </a:rPr>
              <a:t>NR-01: Norma Mãe — GRO, PGR (Inventário + Plano de Ação), Direito de Recusa.</a:t>
            </a:r>
          </a:p>
        </p:txBody>
      </p:sp>
      <p:sp>
        <p:nvSpPr>
          <p:cNvPr id="4" name="TextBox 3"/>
          <p:cNvSpPr txBox="1"/>
          <p:nvPr/>
        </p:nvSpPr>
        <p:spPr>
          <a:xfrm>
            <a:off x="548640" y="1673352"/>
            <a:ext cx="11091672" cy="548640"/>
          </a:xfrm>
          <a:prstGeom prst="rect">
            <a:avLst/>
          </a:prstGeom>
          <a:noFill/>
        </p:spPr>
        <p:txBody>
          <a:bodyPr wrap="square">
            <a:spAutoFit/>
          </a:bodyPr>
          <a:lstStyle/>
          <a:p>
            <a:pPr algn="l"/>
            <a:r>
              <a:rPr sz="1800" b="0">
                <a:solidFill>
                  <a:srgbClr val="111827"/>
                </a:solidFill>
              </a:rPr>
              <a:t>NR-05: CIPA — paritária, mandato de 1 ano, Mapa de Riscos, SIPAT.</a:t>
            </a:r>
          </a:p>
        </p:txBody>
      </p:sp>
      <p:sp>
        <p:nvSpPr>
          <p:cNvPr id="5" name="TextBox 4"/>
          <p:cNvSpPr txBox="1"/>
          <p:nvPr/>
        </p:nvSpPr>
        <p:spPr>
          <a:xfrm>
            <a:off x="548640" y="2203704"/>
            <a:ext cx="11091672" cy="548640"/>
          </a:xfrm>
          <a:prstGeom prst="rect">
            <a:avLst/>
          </a:prstGeom>
          <a:noFill/>
        </p:spPr>
        <p:txBody>
          <a:bodyPr wrap="square">
            <a:spAutoFit/>
          </a:bodyPr>
          <a:lstStyle/>
          <a:p>
            <a:pPr algn="l"/>
            <a:r>
              <a:rPr sz="1800" b="0">
                <a:solidFill>
                  <a:srgbClr val="111827"/>
                </a:solidFill>
              </a:rPr>
              <a:t>NR-06: EPI — gratuito, CA obrigatório, última linha de defesa.</a:t>
            </a:r>
          </a:p>
        </p:txBody>
      </p:sp>
      <p:sp>
        <p:nvSpPr>
          <p:cNvPr id="6" name="TextBox 5"/>
          <p:cNvSpPr txBox="1"/>
          <p:nvPr/>
        </p:nvSpPr>
        <p:spPr>
          <a:xfrm>
            <a:off x="548640" y="2734056"/>
            <a:ext cx="11091672" cy="548640"/>
          </a:xfrm>
          <a:prstGeom prst="rect">
            <a:avLst/>
          </a:prstGeom>
          <a:noFill/>
        </p:spPr>
        <p:txBody>
          <a:bodyPr wrap="square">
            <a:spAutoFit/>
          </a:bodyPr>
          <a:lstStyle/>
          <a:p>
            <a:pPr algn="l"/>
            <a:r>
              <a:rPr sz="1800" b="0">
                <a:solidFill>
                  <a:srgbClr val="111827"/>
                </a:solidFill>
              </a:rPr>
              <a:t>NR-15: Insalubridade — dano progressivo, graus 10%/20%/40% sobre salário mínimo.</a:t>
            </a:r>
          </a:p>
        </p:txBody>
      </p:sp>
      <p:sp>
        <p:nvSpPr>
          <p:cNvPr id="7" name="TextBox 6"/>
          <p:cNvSpPr txBox="1"/>
          <p:nvPr/>
        </p:nvSpPr>
        <p:spPr>
          <a:xfrm>
            <a:off x="548640" y="3264408"/>
            <a:ext cx="11091672" cy="548640"/>
          </a:xfrm>
          <a:prstGeom prst="rect">
            <a:avLst/>
          </a:prstGeom>
          <a:noFill/>
        </p:spPr>
        <p:txBody>
          <a:bodyPr wrap="square">
            <a:spAutoFit/>
          </a:bodyPr>
          <a:lstStyle/>
          <a:p>
            <a:pPr algn="l"/>
            <a:r>
              <a:rPr sz="1800" b="0">
                <a:solidFill>
                  <a:srgbClr val="111827"/>
                </a:solidFill>
              </a:rPr>
              <a:t>NR-16: Periculosidade — risco imediato, adicional fixo 30% sobre salário base.</a:t>
            </a:r>
          </a:p>
        </p:txBody>
      </p:sp>
      <p:sp>
        <p:nvSpPr>
          <p:cNvPr id="8" name="TextBox 7"/>
          <p:cNvSpPr txBox="1"/>
          <p:nvPr/>
        </p:nvSpPr>
        <p:spPr>
          <a:xfrm>
            <a:off x="548640" y="3794760"/>
            <a:ext cx="11091672" cy="548640"/>
          </a:xfrm>
          <a:prstGeom prst="rect">
            <a:avLst/>
          </a:prstGeom>
          <a:noFill/>
        </p:spPr>
        <p:txBody>
          <a:bodyPr wrap="square">
            <a:spAutoFit/>
          </a:bodyPr>
          <a:lstStyle/>
          <a:p>
            <a:pPr algn="l"/>
            <a:r>
              <a:rPr sz="1800" b="0">
                <a:solidFill>
                  <a:srgbClr val="111827"/>
                </a:solidFill>
              </a:rPr>
              <a:t>NR-17: Ergonomia — adaptar trabalho ao trabalhador, prevenir LER/DORT.</a:t>
            </a:r>
          </a:p>
        </p:txBody>
      </p:sp>
      <p:sp>
        <p:nvSpPr>
          <p:cNvPr id="9" name="TextBox 8"/>
          <p:cNvSpPr txBox="1"/>
          <p:nvPr/>
        </p:nvSpPr>
        <p:spPr>
          <a:xfrm>
            <a:off x="548640" y="4325112"/>
            <a:ext cx="11091672" cy="548640"/>
          </a:xfrm>
          <a:prstGeom prst="rect">
            <a:avLst/>
          </a:prstGeom>
          <a:noFill/>
        </p:spPr>
        <p:txBody>
          <a:bodyPr wrap="square">
            <a:spAutoFit/>
          </a:bodyPr>
          <a:lstStyle/>
          <a:p>
            <a:pPr algn="l"/>
            <a:r>
              <a:rPr sz="1800" b="0">
                <a:solidFill>
                  <a:srgbClr val="111827"/>
                </a:solidFill>
              </a:rPr>
              <a:t>NR-23: Incêndio — extintores, brigada, PPCI, saídas de emergência.</a:t>
            </a:r>
          </a:p>
        </p:txBody>
      </p:sp>
      <p:sp>
        <p:nvSpPr>
          <p:cNvPr id="10" name="TextBox 9"/>
          <p:cNvSpPr txBox="1"/>
          <p:nvPr/>
        </p:nvSpPr>
        <p:spPr>
          <a:xfrm>
            <a:off x="548640" y="4855464"/>
            <a:ext cx="11091672" cy="548640"/>
          </a:xfrm>
          <a:prstGeom prst="rect">
            <a:avLst/>
          </a:prstGeom>
          <a:noFill/>
        </p:spPr>
        <p:txBody>
          <a:bodyPr wrap="square">
            <a:spAutoFit/>
          </a:bodyPr>
          <a:lstStyle/>
          <a:p>
            <a:pPr algn="l"/>
            <a:r>
              <a:rPr sz="1800" b="0">
                <a:solidFill>
                  <a:srgbClr val="111827"/>
                </a:solidFill>
              </a:rPr>
              <a:t>NR-35: Altura — acima de 2 m, APR, PTS, cinto paraquedista.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